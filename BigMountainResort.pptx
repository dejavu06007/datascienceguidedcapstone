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1" r:id="rId3"/>
    <p:sldId id="257" r:id="rId4"/>
    <p:sldId id="258"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75"/>
    <p:restoredTop sz="94694"/>
  </p:normalViewPr>
  <p:slideViewPr>
    <p:cSldViewPr snapToGrid="0" snapToObjects="1">
      <p:cViewPr varScale="1">
        <p:scale>
          <a:sx n="110" d="100"/>
          <a:sy n="110" d="100"/>
        </p:scale>
        <p:origin x="2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6E247-9608-4943-9104-E15B01F8C5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284184-9F97-9C49-B253-5686374213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E8A8CB-B230-FE4C-B7C8-7ACAF5972C59}"/>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5" name="Footer Placeholder 4">
            <a:extLst>
              <a:ext uri="{FF2B5EF4-FFF2-40B4-BE49-F238E27FC236}">
                <a16:creationId xmlns:a16="http://schemas.microsoft.com/office/drawing/2014/main" id="{36876F28-7219-4A43-A853-1608A15FF9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EFBDA-32B2-1E4E-B9B3-3EB79240CAD9}"/>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325630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E28B5-636E-FE4B-8A33-2C171D6383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1D2F8B-8A4D-DF45-B9A5-65BBBD7043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A29D61-D93D-4E46-85CD-547E0343E037}"/>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5" name="Footer Placeholder 4">
            <a:extLst>
              <a:ext uri="{FF2B5EF4-FFF2-40B4-BE49-F238E27FC236}">
                <a16:creationId xmlns:a16="http://schemas.microsoft.com/office/drawing/2014/main" id="{2B93435E-59CD-914C-BCA5-3D2F89EC8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0E0FD-7B65-9142-A615-066FA87BF76B}"/>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240518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2AF3A-625D-8941-8B4D-3783FF247B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FAB536-5D97-3D4B-8A9E-B5ABB0F9CA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286681-4288-B242-B1F8-3EA1335DBB8B}"/>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5" name="Footer Placeholder 4">
            <a:extLst>
              <a:ext uri="{FF2B5EF4-FFF2-40B4-BE49-F238E27FC236}">
                <a16:creationId xmlns:a16="http://schemas.microsoft.com/office/drawing/2014/main" id="{BFE9C592-47BA-A14C-8B89-B3D6E42DF9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661A9D-3940-CB4A-8EFE-53FCC567B58C}"/>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277071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10B9-6C2C-2C4A-95E4-935224B50A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FB6C2B-687D-BF44-B58C-52684B9327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DC7A77-C522-774E-BE43-36DECAA272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F51CC7-C093-FD4B-8761-ACA60BB842E6}"/>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6" name="Footer Placeholder 5">
            <a:extLst>
              <a:ext uri="{FF2B5EF4-FFF2-40B4-BE49-F238E27FC236}">
                <a16:creationId xmlns:a16="http://schemas.microsoft.com/office/drawing/2014/main" id="{EB7DD396-6271-2F4B-947E-082BF983CC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2EE37E-B506-644A-ACCE-7CF3EF2A037A}"/>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970406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F5867-830A-044E-BE10-7720A3AF87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8ED14C-3FE8-994E-9089-9A3F623FC9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099106-55C9-A841-9777-18B4D856D1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2C915C-704D-F44F-A3DE-7BED3CA948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9BDDDD-3054-6748-8B0A-6E80C98F8A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137C46-1CC5-9846-B4DE-D262CE786476}"/>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8" name="Footer Placeholder 7">
            <a:extLst>
              <a:ext uri="{FF2B5EF4-FFF2-40B4-BE49-F238E27FC236}">
                <a16:creationId xmlns:a16="http://schemas.microsoft.com/office/drawing/2014/main" id="{CE8A1F1A-D5DB-A840-8A57-E0B4F10B06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1844AE-8C3B-6F4F-B619-2E4FAD4C35FC}"/>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3614213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9A578-2A87-B341-894E-6ED36A73BB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7EBC26-EBBA-0D46-AF5A-0AB814041B5C}"/>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4" name="Footer Placeholder 3">
            <a:extLst>
              <a:ext uri="{FF2B5EF4-FFF2-40B4-BE49-F238E27FC236}">
                <a16:creationId xmlns:a16="http://schemas.microsoft.com/office/drawing/2014/main" id="{3A22D3E1-37DF-D344-969F-B250DC06E3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CCA0C5-CEC5-7E40-93DE-D8519F7B5F53}"/>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1379150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9E9D42-85BB-DB45-B305-D4F28DEFFDD2}"/>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3" name="Footer Placeholder 2">
            <a:extLst>
              <a:ext uri="{FF2B5EF4-FFF2-40B4-BE49-F238E27FC236}">
                <a16:creationId xmlns:a16="http://schemas.microsoft.com/office/drawing/2014/main" id="{88D73054-8FE5-BF40-9E86-EB1B8162CC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425ECF-C37E-444F-AA54-3CB077B39A3D}"/>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2213536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DDAC-EF44-F445-AAF2-927A669B6A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51F53D-0DB7-2D46-9614-D49B8F6D0F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D970E1-D667-454A-9C5F-550CF9F464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737735-1696-4549-998F-65759C9491C2}"/>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6" name="Footer Placeholder 5">
            <a:extLst>
              <a:ext uri="{FF2B5EF4-FFF2-40B4-BE49-F238E27FC236}">
                <a16:creationId xmlns:a16="http://schemas.microsoft.com/office/drawing/2014/main" id="{8A8A954F-B1BE-4941-81E5-D472A37CC7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E4A642-4DBB-694D-9111-F6F10C089EA5}"/>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4198328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F971-F61D-8940-BDA4-779D642759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AFB66-65B9-D545-8080-8676E79026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A4C05D-2665-EF4D-99B1-FED42850C9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1F542F-5732-6644-A36B-FFDB078EF026}"/>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6" name="Footer Placeholder 5">
            <a:extLst>
              <a:ext uri="{FF2B5EF4-FFF2-40B4-BE49-F238E27FC236}">
                <a16:creationId xmlns:a16="http://schemas.microsoft.com/office/drawing/2014/main" id="{3AB5E649-A44F-DE4A-88D5-5684840D25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5585C9-2DC8-0047-87B8-219D5452EA9D}"/>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3026853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0DDAB-ECB4-6241-977C-0C12A18A14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019665-D589-944A-BB1B-0BF11E4A88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90DFFA-BD05-1445-B6B7-204659165158}"/>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5" name="Footer Placeholder 4">
            <a:extLst>
              <a:ext uri="{FF2B5EF4-FFF2-40B4-BE49-F238E27FC236}">
                <a16:creationId xmlns:a16="http://schemas.microsoft.com/office/drawing/2014/main" id="{B815753C-6D8C-F244-BDF0-7DF172C485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12E814-35EC-E54E-AE6B-B1FEAC0A4625}"/>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2226473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1ADE02-35B9-9D46-8850-6BBC679911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78B882-37F9-FE42-BA29-9AA422BB73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5F0D9E-8BA0-894B-972B-2FE42DEA2361}"/>
              </a:ext>
            </a:extLst>
          </p:cNvPr>
          <p:cNvSpPr>
            <a:spLocks noGrp="1"/>
          </p:cNvSpPr>
          <p:nvPr>
            <p:ph type="dt" sz="half" idx="10"/>
          </p:nvPr>
        </p:nvSpPr>
        <p:spPr/>
        <p:txBody>
          <a:bodyPr/>
          <a:lstStyle/>
          <a:p>
            <a:fld id="{61D1E638-42CF-E349-866E-0C44704C3CA4}" type="datetimeFigureOut">
              <a:rPr lang="en-US" smtClean="0"/>
              <a:t>11/13/21</a:t>
            </a:fld>
            <a:endParaRPr lang="en-US"/>
          </a:p>
        </p:txBody>
      </p:sp>
      <p:sp>
        <p:nvSpPr>
          <p:cNvPr id="5" name="Footer Placeholder 4">
            <a:extLst>
              <a:ext uri="{FF2B5EF4-FFF2-40B4-BE49-F238E27FC236}">
                <a16:creationId xmlns:a16="http://schemas.microsoft.com/office/drawing/2014/main" id="{6CD2654C-9D6A-B24B-938A-F22F886510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F0705F-9670-F241-AD08-925EB0C32EFC}"/>
              </a:ext>
            </a:extLst>
          </p:cNvPr>
          <p:cNvSpPr>
            <a:spLocks noGrp="1"/>
          </p:cNvSpPr>
          <p:nvPr>
            <p:ph type="sldNum" sz="quarter" idx="12"/>
          </p:nvPr>
        </p:nvSpPr>
        <p:spPr/>
        <p:txBody>
          <a:bodyPr/>
          <a:lstStyle/>
          <a:p>
            <a:fld id="{660DB422-B798-9E47-B94D-FB03D4BB1353}" type="slidenum">
              <a:rPr lang="en-US" smtClean="0"/>
              <a:t>‹#›</a:t>
            </a:fld>
            <a:endParaRPr lang="en-US"/>
          </a:p>
        </p:txBody>
      </p:sp>
    </p:spTree>
    <p:extLst>
      <p:ext uri="{BB962C8B-B14F-4D97-AF65-F5344CB8AC3E}">
        <p14:creationId xmlns:p14="http://schemas.microsoft.com/office/powerpoint/2010/main" val="3019802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5CFA75-22B3-F943-A049-1064C97C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AE37B2-BF42-454D-AF03-51A859E7A4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C81B4D-1B1E-6640-8988-D33D387C7B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D1E638-42CF-E349-866E-0C44704C3CA4}" type="datetimeFigureOut">
              <a:rPr lang="en-US" smtClean="0"/>
              <a:t>11/13/21</a:t>
            </a:fld>
            <a:endParaRPr lang="en-US"/>
          </a:p>
        </p:txBody>
      </p:sp>
      <p:sp>
        <p:nvSpPr>
          <p:cNvPr id="5" name="Footer Placeholder 4">
            <a:extLst>
              <a:ext uri="{FF2B5EF4-FFF2-40B4-BE49-F238E27FC236}">
                <a16:creationId xmlns:a16="http://schemas.microsoft.com/office/drawing/2014/main" id="{F4FE246D-39A3-324D-B182-4574A15EAB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2B9E2BF-E4EF-6040-9131-CB2B756E0B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0DB422-B798-9E47-B94D-FB03D4BB1353}" type="slidenum">
              <a:rPr lang="en-US" smtClean="0"/>
              <a:t>‹#›</a:t>
            </a:fld>
            <a:endParaRPr lang="en-US"/>
          </a:p>
        </p:txBody>
      </p:sp>
    </p:spTree>
    <p:extLst>
      <p:ext uri="{BB962C8B-B14F-4D97-AF65-F5344CB8AC3E}">
        <p14:creationId xmlns:p14="http://schemas.microsoft.com/office/powerpoint/2010/main" val="287149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41EF-2F26-7F46-A33E-1C23BFC7FE53}"/>
              </a:ext>
            </a:extLst>
          </p:cNvPr>
          <p:cNvSpPr>
            <a:spLocks noGrp="1"/>
          </p:cNvSpPr>
          <p:nvPr>
            <p:ph type="ctrTitle"/>
          </p:nvPr>
        </p:nvSpPr>
        <p:spPr/>
        <p:txBody>
          <a:bodyPr/>
          <a:lstStyle/>
          <a:p>
            <a:r>
              <a:rPr lang="en-US" dirty="0"/>
              <a:t>Big Mountain Resort Ticket Price Analysis </a:t>
            </a:r>
          </a:p>
        </p:txBody>
      </p:sp>
      <p:sp>
        <p:nvSpPr>
          <p:cNvPr id="3" name="Subtitle 2">
            <a:extLst>
              <a:ext uri="{FF2B5EF4-FFF2-40B4-BE49-F238E27FC236}">
                <a16:creationId xmlns:a16="http://schemas.microsoft.com/office/drawing/2014/main" id="{8B63C7D7-64B3-5443-A3B4-74D596C095D9}"/>
              </a:ext>
            </a:extLst>
          </p:cNvPr>
          <p:cNvSpPr>
            <a:spLocks noGrp="1"/>
          </p:cNvSpPr>
          <p:nvPr>
            <p:ph type="subTitle" idx="1"/>
          </p:nvPr>
        </p:nvSpPr>
        <p:spPr/>
        <p:txBody>
          <a:bodyPr/>
          <a:lstStyle/>
          <a:p>
            <a:r>
              <a:rPr lang="en-US" dirty="0"/>
              <a:t>Jianxiong Chen</a:t>
            </a:r>
          </a:p>
          <a:p>
            <a:r>
              <a:rPr lang="en-US"/>
              <a:t>Nov 13, 2021</a:t>
            </a:r>
          </a:p>
        </p:txBody>
      </p:sp>
    </p:spTree>
    <p:extLst>
      <p:ext uri="{BB962C8B-B14F-4D97-AF65-F5344CB8AC3E}">
        <p14:creationId xmlns:p14="http://schemas.microsoft.com/office/powerpoint/2010/main" val="807383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413E2-4E21-3A42-A6CE-3CCCC0ADC9AD}"/>
              </a:ext>
            </a:extLst>
          </p:cNvPr>
          <p:cNvSpPr>
            <a:spLocks noGrp="1"/>
          </p:cNvSpPr>
          <p:nvPr>
            <p:ph type="title"/>
          </p:nvPr>
        </p:nvSpPr>
        <p:spPr>
          <a:xfrm>
            <a:off x="838200" y="365125"/>
            <a:ext cx="10515600" cy="529397"/>
          </a:xfrm>
        </p:spPr>
        <p:txBody>
          <a:bodyPr>
            <a:normAutofit fontScale="90000"/>
          </a:bodyPr>
          <a:lstStyle/>
          <a:p>
            <a:r>
              <a:rPr lang="en-US" dirty="0"/>
              <a:t>Problem Identification</a:t>
            </a:r>
          </a:p>
        </p:txBody>
      </p:sp>
      <p:pic>
        <p:nvPicPr>
          <p:cNvPr id="5" name="Content Placeholder 4" descr="Chart, histogram&#10;&#10;Description automatically generated">
            <a:extLst>
              <a:ext uri="{FF2B5EF4-FFF2-40B4-BE49-F238E27FC236}">
                <a16:creationId xmlns:a16="http://schemas.microsoft.com/office/drawing/2014/main" id="{C96C46FB-1BB9-E748-8603-0DB82DCCBD67}"/>
              </a:ext>
            </a:extLst>
          </p:cNvPr>
          <p:cNvPicPr>
            <a:picLocks noGrp="1" noChangeAspect="1"/>
          </p:cNvPicPr>
          <p:nvPr>
            <p:ph idx="1"/>
          </p:nvPr>
        </p:nvPicPr>
        <p:blipFill>
          <a:blip r:embed="rId2"/>
          <a:stretch>
            <a:fillRect/>
          </a:stretch>
        </p:blipFill>
        <p:spPr>
          <a:xfrm>
            <a:off x="2625794" y="1534675"/>
            <a:ext cx="6217920" cy="3281680"/>
          </a:xfrm>
        </p:spPr>
      </p:pic>
      <p:sp>
        <p:nvSpPr>
          <p:cNvPr id="6" name="TextBox 5">
            <a:extLst>
              <a:ext uri="{FF2B5EF4-FFF2-40B4-BE49-F238E27FC236}">
                <a16:creationId xmlns:a16="http://schemas.microsoft.com/office/drawing/2014/main" id="{232C3925-ED0B-F140-B2F0-FF8D4BDEFCBB}"/>
              </a:ext>
            </a:extLst>
          </p:cNvPr>
          <p:cNvSpPr txBox="1"/>
          <p:nvPr/>
        </p:nvSpPr>
        <p:spPr>
          <a:xfrm>
            <a:off x="1478844" y="984776"/>
            <a:ext cx="8569847" cy="400110"/>
          </a:xfrm>
          <a:prstGeom prst="rect">
            <a:avLst/>
          </a:prstGeom>
          <a:noFill/>
        </p:spPr>
        <p:txBody>
          <a:bodyPr wrap="none" rtlCol="0">
            <a:spAutoFit/>
          </a:bodyPr>
          <a:lstStyle/>
          <a:p>
            <a:r>
              <a:rPr lang="en-US" sz="2000" dirty="0"/>
              <a:t>What is the right ticket price to maximize Big Mountain Resort’s revenue/profit? </a:t>
            </a:r>
          </a:p>
        </p:txBody>
      </p:sp>
      <p:sp>
        <p:nvSpPr>
          <p:cNvPr id="7" name="TextBox 6">
            <a:extLst>
              <a:ext uri="{FF2B5EF4-FFF2-40B4-BE49-F238E27FC236}">
                <a16:creationId xmlns:a16="http://schemas.microsoft.com/office/drawing/2014/main" id="{E5D19DC6-C428-E141-BFB2-92B59BB934F5}"/>
              </a:ext>
            </a:extLst>
          </p:cNvPr>
          <p:cNvSpPr txBox="1"/>
          <p:nvPr/>
        </p:nvSpPr>
        <p:spPr>
          <a:xfrm>
            <a:off x="1478844" y="4953993"/>
            <a:ext cx="8715023" cy="1477328"/>
          </a:xfrm>
          <a:prstGeom prst="rect">
            <a:avLst/>
          </a:prstGeom>
          <a:noFill/>
        </p:spPr>
        <p:txBody>
          <a:bodyPr wrap="square" rtlCol="0">
            <a:spAutoFit/>
          </a:bodyPr>
          <a:lstStyle/>
          <a:p>
            <a:r>
              <a:rPr lang="en-US" dirty="0"/>
              <a:t>- Current price is $81.00 based on the strategy of charging a premium above the average price of resorts in its segment. </a:t>
            </a:r>
          </a:p>
          <a:p>
            <a:endParaRPr lang="en-US" dirty="0"/>
          </a:p>
          <a:p>
            <a:r>
              <a:rPr lang="en-US" dirty="0"/>
              <a:t>- </a:t>
            </a:r>
            <a:r>
              <a:rPr lang="en-US" b="1" u="sng" dirty="0"/>
              <a:t>The goal of this project </a:t>
            </a:r>
            <a:r>
              <a:rPr lang="en-US" dirty="0"/>
              <a:t>is to build a data-driven model by analyzing data from more than 300 resorts to determine the most optimized ticket price for Big Mountain Resort. </a:t>
            </a:r>
          </a:p>
        </p:txBody>
      </p:sp>
    </p:spTree>
    <p:extLst>
      <p:ext uri="{BB962C8B-B14F-4D97-AF65-F5344CB8AC3E}">
        <p14:creationId xmlns:p14="http://schemas.microsoft.com/office/powerpoint/2010/main" val="2353191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413E2-4E21-3A42-A6CE-3CCCC0ADC9AD}"/>
              </a:ext>
            </a:extLst>
          </p:cNvPr>
          <p:cNvSpPr>
            <a:spLocks noGrp="1"/>
          </p:cNvSpPr>
          <p:nvPr>
            <p:ph type="title"/>
          </p:nvPr>
        </p:nvSpPr>
        <p:spPr>
          <a:xfrm>
            <a:off x="838200" y="365125"/>
            <a:ext cx="10515600" cy="529397"/>
          </a:xfrm>
        </p:spPr>
        <p:txBody>
          <a:bodyPr>
            <a:normAutofit fontScale="90000"/>
          </a:bodyPr>
          <a:lstStyle/>
          <a:p>
            <a:r>
              <a:rPr lang="en-US" dirty="0"/>
              <a:t>Recommendation and Key Findings</a:t>
            </a:r>
          </a:p>
        </p:txBody>
      </p:sp>
      <p:sp>
        <p:nvSpPr>
          <p:cNvPr id="3" name="Content Placeholder 2">
            <a:extLst>
              <a:ext uri="{FF2B5EF4-FFF2-40B4-BE49-F238E27FC236}">
                <a16:creationId xmlns:a16="http://schemas.microsoft.com/office/drawing/2014/main" id="{329F4EFB-C920-0640-A1C8-F527FC2D76D2}"/>
              </a:ext>
            </a:extLst>
          </p:cNvPr>
          <p:cNvSpPr>
            <a:spLocks noGrp="1"/>
          </p:cNvSpPr>
          <p:nvPr>
            <p:ph idx="1"/>
          </p:nvPr>
        </p:nvSpPr>
        <p:spPr>
          <a:xfrm>
            <a:off x="838200" y="1152939"/>
            <a:ext cx="10515600" cy="5024024"/>
          </a:xfrm>
        </p:spPr>
        <p:txBody>
          <a:bodyPr/>
          <a:lstStyle/>
          <a:p>
            <a:r>
              <a:rPr lang="en-US" dirty="0"/>
              <a:t>Big Mountain Resort should increase the ticket price by $4.48 to $85.48 to increase the revenue and profit. </a:t>
            </a:r>
          </a:p>
          <a:p>
            <a:endParaRPr lang="en-US" dirty="0"/>
          </a:p>
          <a:p>
            <a:r>
              <a:rPr lang="en-US" dirty="0"/>
              <a:t>Big Mountain resort can consider adding a run, increasing the vertical drop by 150 feet, and installing an additional chair lift, which can support the ticket price to be further increased by $1.99.</a:t>
            </a:r>
            <a:r>
              <a:rPr lang="en-US" dirty="0">
                <a:effectLst/>
              </a:rPr>
              <a:t> </a:t>
            </a:r>
            <a:endParaRPr lang="en-US" dirty="0"/>
          </a:p>
        </p:txBody>
      </p:sp>
    </p:spTree>
    <p:extLst>
      <p:ext uri="{BB962C8B-B14F-4D97-AF65-F5344CB8AC3E}">
        <p14:creationId xmlns:p14="http://schemas.microsoft.com/office/powerpoint/2010/main" val="305725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413E2-4E21-3A42-A6CE-3CCCC0ADC9AD}"/>
              </a:ext>
            </a:extLst>
          </p:cNvPr>
          <p:cNvSpPr>
            <a:spLocks noGrp="1"/>
          </p:cNvSpPr>
          <p:nvPr>
            <p:ph type="title"/>
          </p:nvPr>
        </p:nvSpPr>
        <p:spPr>
          <a:xfrm>
            <a:off x="838200" y="365125"/>
            <a:ext cx="10515600" cy="529397"/>
          </a:xfrm>
        </p:spPr>
        <p:txBody>
          <a:bodyPr>
            <a:normAutofit fontScale="90000"/>
          </a:bodyPr>
          <a:lstStyle/>
          <a:p>
            <a:r>
              <a:rPr lang="en-US" dirty="0"/>
              <a:t>Model Results and Analysis: Input Data</a:t>
            </a:r>
          </a:p>
        </p:txBody>
      </p:sp>
      <p:pic>
        <p:nvPicPr>
          <p:cNvPr id="5" name="Content Placeholder 4" descr="Chart&#10;&#10;Description automatically generated">
            <a:extLst>
              <a:ext uri="{FF2B5EF4-FFF2-40B4-BE49-F238E27FC236}">
                <a16:creationId xmlns:a16="http://schemas.microsoft.com/office/drawing/2014/main" id="{B914223E-B038-2E46-897B-F5142F18FB67}"/>
              </a:ext>
            </a:extLst>
          </p:cNvPr>
          <p:cNvPicPr>
            <a:picLocks noGrp="1" noChangeAspect="1"/>
          </p:cNvPicPr>
          <p:nvPr>
            <p:ph idx="1"/>
          </p:nvPr>
        </p:nvPicPr>
        <p:blipFill>
          <a:blip r:embed="rId2"/>
          <a:stretch>
            <a:fillRect/>
          </a:stretch>
        </p:blipFill>
        <p:spPr>
          <a:xfrm>
            <a:off x="5592682" y="1036775"/>
            <a:ext cx="6290564" cy="5725033"/>
          </a:xfrm>
        </p:spPr>
      </p:pic>
      <p:cxnSp>
        <p:nvCxnSpPr>
          <p:cNvPr id="7" name="Straight Arrow Connector 6">
            <a:extLst>
              <a:ext uri="{FF2B5EF4-FFF2-40B4-BE49-F238E27FC236}">
                <a16:creationId xmlns:a16="http://schemas.microsoft.com/office/drawing/2014/main" id="{31A9C3A4-B3D4-7B40-9594-1FBC5507F43B}"/>
              </a:ext>
            </a:extLst>
          </p:cNvPr>
          <p:cNvCxnSpPr>
            <a:cxnSpLocks/>
          </p:cNvCxnSpPr>
          <p:nvPr/>
        </p:nvCxnSpPr>
        <p:spPr>
          <a:xfrm>
            <a:off x="5451677" y="3970116"/>
            <a:ext cx="829520"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8AE0F63-8B7E-5742-8C55-891F622C39B1}"/>
              </a:ext>
            </a:extLst>
          </p:cNvPr>
          <p:cNvSpPr txBox="1"/>
          <p:nvPr/>
        </p:nvSpPr>
        <p:spPr>
          <a:xfrm>
            <a:off x="3107119" y="3770061"/>
            <a:ext cx="2353529" cy="400110"/>
          </a:xfrm>
          <a:prstGeom prst="rect">
            <a:avLst/>
          </a:prstGeom>
          <a:noFill/>
          <a:ln>
            <a:solidFill>
              <a:srgbClr val="00B050"/>
            </a:solidFill>
          </a:ln>
        </p:spPr>
        <p:txBody>
          <a:bodyPr wrap="none" rtlCol="0">
            <a:spAutoFit/>
          </a:bodyPr>
          <a:lstStyle/>
          <a:p>
            <a:pPr algn="ctr"/>
            <a:r>
              <a:rPr lang="en-US" sz="1000" b="1" u="sng" dirty="0"/>
              <a:t>Ticket Price, </a:t>
            </a:r>
          </a:p>
          <a:p>
            <a:pPr algn="ctr"/>
            <a:r>
              <a:rPr lang="en-US" sz="1000" b="1" u="sng" dirty="0"/>
              <a:t>the feature to be modeled and predicted</a:t>
            </a:r>
          </a:p>
        </p:txBody>
      </p:sp>
      <p:sp>
        <p:nvSpPr>
          <p:cNvPr id="12" name="TextBox 11">
            <a:extLst>
              <a:ext uri="{FF2B5EF4-FFF2-40B4-BE49-F238E27FC236}">
                <a16:creationId xmlns:a16="http://schemas.microsoft.com/office/drawing/2014/main" id="{BAE8A5BE-EBD4-8E4D-940F-B17DC5488768}"/>
              </a:ext>
            </a:extLst>
          </p:cNvPr>
          <p:cNvSpPr txBox="1"/>
          <p:nvPr/>
        </p:nvSpPr>
        <p:spPr>
          <a:xfrm>
            <a:off x="753321" y="1238600"/>
            <a:ext cx="5659054" cy="1985159"/>
          </a:xfrm>
          <a:prstGeom prst="rect">
            <a:avLst/>
          </a:prstGeom>
          <a:noFill/>
        </p:spPr>
        <p:txBody>
          <a:bodyPr wrap="square" rtlCol="0">
            <a:spAutoFit/>
          </a:bodyPr>
          <a:lstStyle/>
          <a:p>
            <a:pPr marL="285750" indent="-285750">
              <a:spcBef>
                <a:spcPts val="600"/>
              </a:spcBef>
              <a:buFontTx/>
              <a:buChar char="-"/>
            </a:pPr>
            <a:r>
              <a:rPr lang="en-US" dirty="0"/>
              <a:t>The input data starts with 330 rows and 27 columns</a:t>
            </a:r>
          </a:p>
          <a:p>
            <a:pPr marL="285750" indent="-285750">
              <a:spcBef>
                <a:spcPts val="600"/>
              </a:spcBef>
              <a:buFontTx/>
              <a:buChar char="-"/>
            </a:pPr>
            <a:r>
              <a:rPr lang="en-US" dirty="0"/>
              <a:t>After cleaning, 277 rows and 25 columns left.</a:t>
            </a:r>
          </a:p>
          <a:p>
            <a:pPr marL="285750" indent="-285750">
              <a:spcBef>
                <a:spcPts val="600"/>
              </a:spcBef>
              <a:buFontTx/>
              <a:buChar char="-"/>
            </a:pPr>
            <a:r>
              <a:rPr lang="en-US" dirty="0"/>
              <a:t>Each row represent a resort, and each column represent a feature.</a:t>
            </a:r>
          </a:p>
          <a:p>
            <a:pPr marL="285750" indent="-285750">
              <a:spcBef>
                <a:spcPts val="600"/>
              </a:spcBef>
              <a:buFontTx/>
              <a:buChar char="-"/>
            </a:pPr>
            <a:r>
              <a:rPr lang="en-US" dirty="0"/>
              <a:t>The feature to be predicted is “</a:t>
            </a:r>
            <a:r>
              <a:rPr lang="en-US" dirty="0" err="1"/>
              <a:t>AdultWeekend</a:t>
            </a:r>
            <a:r>
              <a:rPr lang="en-US" dirty="0"/>
              <a:t>” which present the adult ticket price in the weekend.</a:t>
            </a:r>
          </a:p>
        </p:txBody>
      </p:sp>
    </p:spTree>
    <p:extLst>
      <p:ext uri="{BB962C8B-B14F-4D97-AF65-F5344CB8AC3E}">
        <p14:creationId xmlns:p14="http://schemas.microsoft.com/office/powerpoint/2010/main" val="2886801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413E2-4E21-3A42-A6CE-3CCCC0ADC9AD}"/>
              </a:ext>
            </a:extLst>
          </p:cNvPr>
          <p:cNvSpPr>
            <a:spLocks noGrp="1"/>
          </p:cNvSpPr>
          <p:nvPr>
            <p:ph type="title"/>
          </p:nvPr>
        </p:nvSpPr>
        <p:spPr>
          <a:xfrm>
            <a:off x="838200" y="365125"/>
            <a:ext cx="10515600" cy="529397"/>
          </a:xfrm>
        </p:spPr>
        <p:txBody>
          <a:bodyPr>
            <a:normAutofit fontScale="90000"/>
          </a:bodyPr>
          <a:lstStyle/>
          <a:p>
            <a:r>
              <a:rPr lang="en-US" dirty="0"/>
              <a:t>Model Results and Analysis: Model Selection</a:t>
            </a:r>
          </a:p>
        </p:txBody>
      </p:sp>
      <p:sp>
        <p:nvSpPr>
          <p:cNvPr id="3" name="Content Placeholder 2">
            <a:extLst>
              <a:ext uri="{FF2B5EF4-FFF2-40B4-BE49-F238E27FC236}">
                <a16:creationId xmlns:a16="http://schemas.microsoft.com/office/drawing/2014/main" id="{329F4EFB-C920-0640-A1C8-F527FC2D76D2}"/>
              </a:ext>
            </a:extLst>
          </p:cNvPr>
          <p:cNvSpPr>
            <a:spLocks noGrp="1"/>
          </p:cNvSpPr>
          <p:nvPr>
            <p:ph idx="1"/>
          </p:nvPr>
        </p:nvSpPr>
        <p:spPr>
          <a:xfrm>
            <a:off x="838200" y="1152939"/>
            <a:ext cx="10515600" cy="5024024"/>
          </a:xfrm>
        </p:spPr>
        <p:txBody>
          <a:bodyPr>
            <a:normAutofit/>
          </a:bodyPr>
          <a:lstStyle/>
          <a:p>
            <a:pPr marL="0" indent="0">
              <a:buNone/>
            </a:pPr>
            <a:r>
              <a:rPr lang="en-US" sz="2400" dirty="0"/>
              <a:t>- Random forest regression model is selected over Linear regression model because of a lower cross-validation mean absolute error, and less variability. </a:t>
            </a:r>
          </a:p>
          <a:p>
            <a:pPr marL="0" indent="0">
              <a:buNone/>
            </a:pPr>
            <a:r>
              <a:rPr lang="en-US" sz="2400" dirty="0"/>
              <a:t>- Eight features are selected to build the random forest regression model. </a:t>
            </a:r>
          </a:p>
          <a:p>
            <a:pPr marL="0" indent="0">
              <a:buNone/>
            </a:pPr>
            <a:r>
              <a:rPr lang="en-US" sz="2400" dirty="0"/>
              <a:t>- It is also confirmed that the training dataset size is sufficient. </a:t>
            </a:r>
          </a:p>
        </p:txBody>
      </p:sp>
      <p:pic>
        <p:nvPicPr>
          <p:cNvPr id="5" name="Picture 4" descr="Chart&#10;&#10;Description automatically generated">
            <a:extLst>
              <a:ext uri="{FF2B5EF4-FFF2-40B4-BE49-F238E27FC236}">
                <a16:creationId xmlns:a16="http://schemas.microsoft.com/office/drawing/2014/main" id="{DB402D17-EF68-9B47-951D-0921EB2EF554}"/>
              </a:ext>
            </a:extLst>
          </p:cNvPr>
          <p:cNvPicPr>
            <a:picLocks noChangeAspect="1"/>
          </p:cNvPicPr>
          <p:nvPr/>
        </p:nvPicPr>
        <p:blipFill>
          <a:blip r:embed="rId2"/>
          <a:stretch>
            <a:fillRect/>
          </a:stretch>
        </p:blipFill>
        <p:spPr>
          <a:xfrm>
            <a:off x="861350" y="3090440"/>
            <a:ext cx="5101590" cy="3336499"/>
          </a:xfrm>
          <a:prstGeom prst="rect">
            <a:avLst/>
          </a:prstGeom>
        </p:spPr>
      </p:pic>
      <p:pic>
        <p:nvPicPr>
          <p:cNvPr id="7" name="Picture 6" descr="Chart&#10;&#10;Description automatically generated">
            <a:extLst>
              <a:ext uri="{FF2B5EF4-FFF2-40B4-BE49-F238E27FC236}">
                <a16:creationId xmlns:a16="http://schemas.microsoft.com/office/drawing/2014/main" id="{4039673B-15C2-1F40-B126-AEB74C4E337C}"/>
              </a:ext>
            </a:extLst>
          </p:cNvPr>
          <p:cNvPicPr>
            <a:picLocks noChangeAspect="1"/>
          </p:cNvPicPr>
          <p:nvPr/>
        </p:nvPicPr>
        <p:blipFill>
          <a:blip r:embed="rId3"/>
          <a:stretch>
            <a:fillRect/>
          </a:stretch>
        </p:blipFill>
        <p:spPr>
          <a:xfrm>
            <a:off x="6096000" y="3090439"/>
            <a:ext cx="5520690" cy="3530280"/>
          </a:xfrm>
          <a:prstGeom prst="rect">
            <a:avLst/>
          </a:prstGeom>
        </p:spPr>
      </p:pic>
    </p:spTree>
    <p:extLst>
      <p:ext uri="{BB962C8B-B14F-4D97-AF65-F5344CB8AC3E}">
        <p14:creationId xmlns:p14="http://schemas.microsoft.com/office/powerpoint/2010/main" val="1741996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413E2-4E21-3A42-A6CE-3CCCC0ADC9AD}"/>
              </a:ext>
            </a:extLst>
          </p:cNvPr>
          <p:cNvSpPr>
            <a:spLocks noGrp="1"/>
          </p:cNvSpPr>
          <p:nvPr>
            <p:ph type="title"/>
          </p:nvPr>
        </p:nvSpPr>
        <p:spPr>
          <a:xfrm>
            <a:off x="838200" y="365125"/>
            <a:ext cx="10515600" cy="529397"/>
          </a:xfrm>
        </p:spPr>
        <p:txBody>
          <a:bodyPr>
            <a:normAutofit fontScale="90000"/>
          </a:bodyPr>
          <a:lstStyle/>
          <a:p>
            <a:r>
              <a:rPr lang="en-US" dirty="0"/>
              <a:t>Modeling Results and Conclusion</a:t>
            </a:r>
          </a:p>
        </p:txBody>
      </p:sp>
      <p:sp>
        <p:nvSpPr>
          <p:cNvPr id="3" name="Content Placeholder 2">
            <a:extLst>
              <a:ext uri="{FF2B5EF4-FFF2-40B4-BE49-F238E27FC236}">
                <a16:creationId xmlns:a16="http://schemas.microsoft.com/office/drawing/2014/main" id="{329F4EFB-C920-0640-A1C8-F527FC2D76D2}"/>
              </a:ext>
            </a:extLst>
          </p:cNvPr>
          <p:cNvSpPr>
            <a:spLocks noGrp="1"/>
          </p:cNvSpPr>
          <p:nvPr>
            <p:ph idx="1"/>
          </p:nvPr>
        </p:nvSpPr>
        <p:spPr>
          <a:xfrm>
            <a:off x="838200" y="1152939"/>
            <a:ext cx="10515600" cy="5024024"/>
          </a:xfrm>
        </p:spPr>
        <p:txBody>
          <a:bodyPr/>
          <a:lstStyle/>
          <a:p>
            <a:r>
              <a:rPr lang="en-US" dirty="0"/>
              <a:t>The predicted price using the model and features of Big Mountain Resort is $95.87. Considering that the expected mean absolute error is $10.39. We recommend the ticket price to be $85.48. </a:t>
            </a:r>
          </a:p>
          <a:p>
            <a:endParaRPr lang="en-US" dirty="0"/>
          </a:p>
          <a:p>
            <a:r>
              <a:rPr lang="en-US" dirty="0"/>
              <a:t>Different scenarios are tested to understand how to invest on the facilities to better support the ticket price. We recommend increasing the vertical drop by 150 feet, and installing an additional chair lift, which can support the ticket price to be further increased by $1.99.</a:t>
            </a:r>
            <a:r>
              <a:rPr lang="en-US" dirty="0">
                <a:effectLst/>
              </a:rPr>
              <a:t> </a:t>
            </a:r>
            <a:endParaRPr lang="en-US" dirty="0"/>
          </a:p>
        </p:txBody>
      </p:sp>
    </p:spTree>
    <p:extLst>
      <p:ext uri="{BB962C8B-B14F-4D97-AF65-F5344CB8AC3E}">
        <p14:creationId xmlns:p14="http://schemas.microsoft.com/office/powerpoint/2010/main" val="4048016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365</Words>
  <Application>Microsoft Macintosh PowerPoint</Application>
  <PresentationFormat>Widescreen</PresentationFormat>
  <Paragraphs>27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Big Mountain Resort Ticket Price Analysis </vt:lpstr>
      <vt:lpstr>Problem Identification</vt:lpstr>
      <vt:lpstr>Recommendation and Key Findings</vt:lpstr>
      <vt:lpstr>Model Results and Analysis: Input Data</vt:lpstr>
      <vt:lpstr>Model Results and Analysis: Model Selection</vt:lpstr>
      <vt:lpstr>Modeling Results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Mountain Resort Ticket Price Analysis </dc:title>
  <dc:creator>Jianxiong Chen</dc:creator>
  <cp:lastModifiedBy>Jianxiong Chen</cp:lastModifiedBy>
  <cp:revision>2</cp:revision>
  <dcterms:created xsi:type="dcterms:W3CDTF">2021-11-14T03:19:14Z</dcterms:created>
  <dcterms:modified xsi:type="dcterms:W3CDTF">2021-11-14T04:31:46Z</dcterms:modified>
</cp:coreProperties>
</file>